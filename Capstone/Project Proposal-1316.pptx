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ricolage Grotesque Bold" charset="1" panose="020B0605040402000204"/>
      <p:regular r:id="rId22"/>
    </p:embeddedFont>
    <p:embeddedFont>
      <p:font typeface="Inter" charset="1" panose="020B0502030000000004"/>
      <p:regular r:id="rId23"/>
    </p:embeddedFont>
    <p:embeddedFont>
      <p:font typeface="Canva Sans" charset="1" panose="020B0503030501040103"/>
      <p:regular r:id="rId24"/>
    </p:embeddedFont>
    <p:embeddedFont>
      <p:font typeface="Inter Bold" charset="1" panose="020B080203000000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https://github.com/XrKang/ZeDuSR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762" y="4236244"/>
            <a:ext cx="8142237" cy="1633686"/>
            <a:chOff x="0" y="0"/>
            <a:chExt cx="10856317" cy="2178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56341" cy="2178177"/>
            </a:xfrm>
            <a:custGeom>
              <a:avLst/>
              <a:gdLst/>
              <a:ahLst/>
              <a:cxnLst/>
              <a:rect r="r" b="b" t="t" l="l"/>
              <a:pathLst>
                <a:path h="2178177" w="10856341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697591" y="0"/>
                  </a:lnTo>
                  <a:cubicBezTo>
                    <a:pt x="10785222" y="0"/>
                    <a:pt x="10856341" y="71120"/>
                    <a:pt x="10856341" y="158750"/>
                  </a:cubicBezTo>
                  <a:lnTo>
                    <a:pt x="10856341" y="2019427"/>
                  </a:lnTo>
                  <a:cubicBezTo>
                    <a:pt x="10856341" y="2107057"/>
                    <a:pt x="10785222" y="2178177"/>
                    <a:pt x="10697591" y="2178177"/>
                  </a:cubicBezTo>
                  <a:lnTo>
                    <a:pt x="158750" y="2178177"/>
                  </a:lnTo>
                  <a:cubicBezTo>
                    <a:pt x="71120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603849" y="2493119"/>
            <a:ext cx="11742836" cy="87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Capstone Project Proposal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5" y="4221956"/>
            <a:ext cx="16313051" cy="3295947"/>
            <a:chOff x="0" y="0"/>
            <a:chExt cx="21750735" cy="43945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21737955" cy="4381881"/>
            </a:xfrm>
            <a:custGeom>
              <a:avLst/>
              <a:gdLst/>
              <a:ahLst/>
              <a:cxnLst/>
              <a:rect r="r" b="b" t="t" l="l"/>
              <a:pathLst>
                <a:path h="4381881" w="2173795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21578824" y="0"/>
                  </a:lnTo>
                  <a:cubicBezTo>
                    <a:pt x="21666708" y="0"/>
                    <a:pt x="21737955" y="71120"/>
                    <a:pt x="21737955" y="158750"/>
                  </a:cubicBezTo>
                  <a:lnTo>
                    <a:pt x="21737955" y="4223131"/>
                  </a:lnTo>
                  <a:cubicBezTo>
                    <a:pt x="21737955" y="4310888"/>
                    <a:pt x="21666708" y="4381881"/>
                    <a:pt x="21578824" y="4381881"/>
                  </a:cubicBezTo>
                  <a:lnTo>
                    <a:pt x="159131" y="4381881"/>
                  </a:lnTo>
                  <a:cubicBezTo>
                    <a:pt x="71247" y="4381881"/>
                    <a:pt x="0" y="4310761"/>
                    <a:pt x="0" y="4223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50655" cy="4394581"/>
            </a:xfrm>
            <a:custGeom>
              <a:avLst/>
              <a:gdLst/>
              <a:ahLst/>
              <a:cxnLst/>
              <a:rect r="r" b="b" t="t" l="l"/>
              <a:pathLst>
                <a:path h="4394581" w="2175065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21585174" y="0"/>
                  </a:lnTo>
                  <a:lnTo>
                    <a:pt x="21585174" y="6350"/>
                  </a:lnTo>
                  <a:lnTo>
                    <a:pt x="21585174" y="0"/>
                  </a:lnTo>
                  <a:cubicBezTo>
                    <a:pt x="21676613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4229481"/>
                  </a:lnTo>
                  <a:lnTo>
                    <a:pt x="21744305" y="4229481"/>
                  </a:lnTo>
                  <a:lnTo>
                    <a:pt x="21750655" y="4229481"/>
                  </a:lnTo>
                  <a:cubicBezTo>
                    <a:pt x="21750655" y="4320667"/>
                    <a:pt x="21676488" y="4394581"/>
                    <a:pt x="21585174" y="4394581"/>
                  </a:cubicBezTo>
                  <a:lnTo>
                    <a:pt x="21585174" y="4388231"/>
                  </a:lnTo>
                  <a:lnTo>
                    <a:pt x="21585174" y="4394581"/>
                  </a:lnTo>
                  <a:lnTo>
                    <a:pt x="165481" y="4394581"/>
                  </a:lnTo>
                  <a:lnTo>
                    <a:pt x="165481" y="4388231"/>
                  </a:lnTo>
                  <a:lnTo>
                    <a:pt x="165481" y="4394581"/>
                  </a:lnTo>
                  <a:cubicBezTo>
                    <a:pt x="74041" y="4394581"/>
                    <a:pt x="0" y="4320667"/>
                    <a:pt x="0" y="42294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29481"/>
                  </a:lnTo>
                  <a:lnTo>
                    <a:pt x="6350" y="4229481"/>
                  </a:lnTo>
                  <a:lnTo>
                    <a:pt x="12700" y="4229481"/>
                  </a:lnTo>
                  <a:cubicBezTo>
                    <a:pt x="12700" y="4313682"/>
                    <a:pt x="81153" y="4381881"/>
                    <a:pt x="165481" y="4381881"/>
                  </a:cubicBezTo>
                  <a:lnTo>
                    <a:pt x="21585174" y="4381881"/>
                  </a:lnTo>
                  <a:cubicBezTo>
                    <a:pt x="21669629" y="4381881"/>
                    <a:pt x="21737955" y="4313555"/>
                    <a:pt x="21737955" y="4229481"/>
                  </a:cubicBezTo>
                  <a:lnTo>
                    <a:pt x="21737955" y="165100"/>
                  </a:lnTo>
                  <a:cubicBezTo>
                    <a:pt x="21737955" y="80899"/>
                    <a:pt x="21669502" y="12700"/>
                    <a:pt x="2158517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5280" y="450071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0" y="5047060"/>
            <a:ext cx="7575202" cy="41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Mahir Faisal (BSSE: 1316)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4236244"/>
            <a:ext cx="8142237" cy="1633686"/>
            <a:chOff x="0" y="0"/>
            <a:chExt cx="10856317" cy="2178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56341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4236244"/>
            <a:ext cx="38100" cy="1633686"/>
            <a:chOff x="0" y="0"/>
            <a:chExt cx="50800" cy="2178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178304"/>
            </a:xfrm>
            <a:custGeom>
              <a:avLst/>
              <a:gdLst/>
              <a:ahLst/>
              <a:cxnLst/>
              <a:rect r="r" b="b" t="t" l="l"/>
              <a:pathLst>
                <a:path h="2178304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52904"/>
                  </a:lnTo>
                  <a:cubicBezTo>
                    <a:pt x="50800" y="2166874"/>
                    <a:pt x="39370" y="2178304"/>
                    <a:pt x="25400" y="2178304"/>
                  </a:cubicBezTo>
                  <a:cubicBezTo>
                    <a:pt x="11430" y="2178304"/>
                    <a:pt x="0" y="2166874"/>
                    <a:pt x="0" y="2152904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27518" y="450071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Supervisor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27518" y="5047060"/>
            <a:ext cx="7575202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Dr. B M Mainul Hossain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1762" y="5869930"/>
            <a:ext cx="8142237" cy="1633686"/>
            <a:chOff x="0" y="0"/>
            <a:chExt cx="10856317" cy="21782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6341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1762" y="5869930"/>
            <a:ext cx="8142237" cy="38100"/>
            <a:chOff x="0" y="0"/>
            <a:chExt cx="10856317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85280" y="6134397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Institution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280" y="6680746"/>
            <a:ext cx="7575202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IIT, University of Dhaka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5869930"/>
            <a:ext cx="8142237" cy="1633686"/>
            <a:chOff x="0" y="0"/>
            <a:chExt cx="10856317" cy="2178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6341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178304"/>
                  </a:lnTo>
                  <a:lnTo>
                    <a:pt x="0" y="21783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5869930"/>
            <a:ext cx="38100" cy="1633686"/>
            <a:chOff x="0" y="0"/>
            <a:chExt cx="50800" cy="21782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2178304"/>
            </a:xfrm>
            <a:custGeom>
              <a:avLst/>
              <a:gdLst/>
              <a:ahLst/>
              <a:cxnLst/>
              <a:rect r="r" b="b" t="t" l="l"/>
              <a:pathLst>
                <a:path h="2178304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52904"/>
                  </a:lnTo>
                  <a:cubicBezTo>
                    <a:pt x="50800" y="2166874"/>
                    <a:pt x="39370" y="2178304"/>
                    <a:pt x="25400" y="2178304"/>
                  </a:cubicBezTo>
                  <a:cubicBezTo>
                    <a:pt x="11430" y="2178304"/>
                    <a:pt x="0" y="2166874"/>
                    <a:pt x="0" y="2152904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5869930"/>
            <a:ext cx="8142237" cy="38100"/>
            <a:chOff x="0" y="0"/>
            <a:chExt cx="10856317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27518" y="6134397"/>
            <a:ext cx="437212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Deadline of this Capstone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7518" y="6680746"/>
            <a:ext cx="7575202" cy="41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End of the Semester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35834"/>
            <a:ext cx="10360490" cy="68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43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Real-Time Dual-Lens Photo Enhancer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618584"/>
            <a:ext cx="9445526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revolutionary system merging ultra-wide and telephoto images to capture both context and clarity in a single, perfectly balanced photograph.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0" y="2050684"/>
            <a:ext cx="9801820" cy="69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44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Photography Challenge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5" y="3319314"/>
            <a:ext cx="4590455" cy="2569517"/>
            <a:chOff x="0" y="0"/>
            <a:chExt cx="6120607" cy="3426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107811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7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8807" y="0"/>
                  </a:lnTo>
                  <a:cubicBezTo>
                    <a:pt x="6036691" y="0"/>
                    <a:pt x="6107811" y="71120"/>
                    <a:pt x="6107811" y="158750"/>
                  </a:cubicBezTo>
                  <a:lnTo>
                    <a:pt x="6107811" y="3254502"/>
                  </a:lnTo>
                  <a:cubicBezTo>
                    <a:pt x="6107811" y="3342259"/>
                    <a:pt x="6036564" y="3413252"/>
                    <a:pt x="5948807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511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470" y="0"/>
                    <a:pt x="6120511" y="73914"/>
                    <a:pt x="6120511" y="165100"/>
                  </a:cubicBezTo>
                  <a:lnTo>
                    <a:pt x="6114161" y="165100"/>
                  </a:lnTo>
                  <a:lnTo>
                    <a:pt x="6120511" y="165100"/>
                  </a:lnTo>
                  <a:lnTo>
                    <a:pt x="6120511" y="3260852"/>
                  </a:lnTo>
                  <a:lnTo>
                    <a:pt x="6114161" y="3260852"/>
                  </a:lnTo>
                  <a:lnTo>
                    <a:pt x="6120511" y="3260852"/>
                  </a:lnTo>
                  <a:cubicBezTo>
                    <a:pt x="6120511" y="3352038"/>
                    <a:pt x="6046470" y="3425952"/>
                    <a:pt x="5955157" y="3425952"/>
                  </a:cubicBezTo>
                  <a:lnTo>
                    <a:pt x="5955157" y="3419602"/>
                  </a:lnTo>
                  <a:lnTo>
                    <a:pt x="5955157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157" y="3413252"/>
                  </a:lnTo>
                  <a:cubicBezTo>
                    <a:pt x="6039485" y="3413252"/>
                    <a:pt x="6107811" y="3345053"/>
                    <a:pt x="6107811" y="3260852"/>
                  </a:cubicBezTo>
                  <a:lnTo>
                    <a:pt x="6107811" y="165100"/>
                  </a:lnTo>
                  <a:cubicBezTo>
                    <a:pt x="6107811" y="80899"/>
                    <a:pt x="6039485" y="12700"/>
                    <a:pt x="5955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5280" y="359806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Ultra-Wide Lens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280" y="4144416"/>
            <a:ext cx="3994845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Captures broad context but sacrifices detail and clarity across the frame.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1922" y="3319314"/>
            <a:ext cx="4590604" cy="2569517"/>
            <a:chOff x="0" y="0"/>
            <a:chExt cx="6120805" cy="34260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9727" y="359806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Telephoto Lens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9727" y="4144416"/>
            <a:ext cx="399499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Delivers sharp precision and texture but misses the wider scene and spatial context.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475" y="6162824"/>
            <a:ext cx="9455051" cy="2115890"/>
            <a:chOff x="0" y="0"/>
            <a:chExt cx="12606735" cy="28211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12594082" cy="2808478"/>
            </a:xfrm>
            <a:custGeom>
              <a:avLst/>
              <a:gdLst/>
              <a:ahLst/>
              <a:cxnLst/>
              <a:rect r="r" b="b" t="t" l="l"/>
              <a:pathLst>
                <a:path h="2808478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649728"/>
                  </a:lnTo>
                  <a:cubicBezTo>
                    <a:pt x="12594082" y="2737485"/>
                    <a:pt x="12522708" y="2808478"/>
                    <a:pt x="12434697" y="2808478"/>
                  </a:cubicBezTo>
                  <a:lnTo>
                    <a:pt x="159385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06782" cy="2821178"/>
            </a:xfrm>
            <a:custGeom>
              <a:avLst/>
              <a:gdLst/>
              <a:ahLst/>
              <a:cxnLst/>
              <a:rect r="r" b="b" t="t" l="l"/>
              <a:pathLst>
                <a:path h="2821178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656078"/>
                  </a:lnTo>
                  <a:lnTo>
                    <a:pt x="12600432" y="2656078"/>
                  </a:lnTo>
                  <a:lnTo>
                    <a:pt x="12606782" y="2656078"/>
                  </a:lnTo>
                  <a:cubicBezTo>
                    <a:pt x="12606782" y="2747264"/>
                    <a:pt x="12532614" y="2821178"/>
                    <a:pt x="12441047" y="2821178"/>
                  </a:cubicBezTo>
                  <a:lnTo>
                    <a:pt x="12441047" y="2814828"/>
                  </a:lnTo>
                  <a:lnTo>
                    <a:pt x="12441047" y="2821178"/>
                  </a:lnTo>
                  <a:lnTo>
                    <a:pt x="165735" y="2821178"/>
                  </a:lnTo>
                  <a:lnTo>
                    <a:pt x="165735" y="2814828"/>
                  </a:lnTo>
                  <a:lnTo>
                    <a:pt x="165735" y="2821178"/>
                  </a:lnTo>
                  <a:cubicBezTo>
                    <a:pt x="74295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735" y="2808478"/>
                  </a:cubicBezTo>
                  <a:lnTo>
                    <a:pt x="12441047" y="2808478"/>
                  </a:lnTo>
                  <a:cubicBezTo>
                    <a:pt x="12525628" y="2808478"/>
                    <a:pt x="12594082" y="2740152"/>
                    <a:pt x="12594082" y="2656078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85280" y="644157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Gap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280" y="6987928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Users forced to choose between breadth of view or richness of detail, never both.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491406"/>
            <a:ext cx="7633394" cy="87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Critical Applications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2745432"/>
            <a:ext cx="9445526" cy="8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This challenge extends beyond casual photography into high-stakes fields where both wide perspective and fine detail are equally essential.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5" y="4506218"/>
            <a:ext cx="647402" cy="647402"/>
            <a:chOff x="0" y="0"/>
            <a:chExt cx="863203" cy="863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7956575" y="4617244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3" y="0"/>
                </a:lnTo>
                <a:lnTo>
                  <a:pt x="425203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71632" y="458926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Surveillance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1632" y="5135613"/>
            <a:ext cx="3624114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Requires comprehensive scene coverage with facial recognition precision.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45342" y="4506218"/>
            <a:ext cx="647402" cy="647402"/>
            <a:chOff x="0" y="0"/>
            <a:chExt cx="863203" cy="86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2856444" y="4617244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71500" y="4589264"/>
            <a:ext cx="406334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Autonomous Driving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71500" y="5135613"/>
            <a:ext cx="36242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Needs full environmental awareness plus detailed obstacle detection.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45475" y="7144494"/>
            <a:ext cx="647402" cy="647402"/>
            <a:chOff x="0" y="0"/>
            <a:chExt cx="863203" cy="863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7956575" y="7255520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3" y="0"/>
                </a:lnTo>
                <a:lnTo>
                  <a:pt x="425203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771633" y="7227540"/>
            <a:ext cx="489986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Professional Imaging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1632" y="7773889"/>
            <a:ext cx="852413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Demands artistic composition with technical perfection throughout.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06190" y="527894"/>
            <a:ext cx="5044976" cy="65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190" y="1779293"/>
            <a:ext cx="14275749" cy="86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sz="5537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Intelligent Image Fusion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715" y="2921571"/>
            <a:ext cx="7343897" cy="146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9"/>
              </a:lnSpc>
            </a:pPr>
            <a:r>
              <a:rPr lang="en-US" sz="18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smart system that merges ultra-wide and telephoto images, preserving the broad perspective while enhancing sharp clarity across the entire frame. The result: balanced, natural, detailed photographs that capture how human eyes truly see the world.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19526" y="2025737"/>
            <a:ext cx="6439774" cy="6565329"/>
            <a:chOff x="0" y="0"/>
            <a:chExt cx="7419777" cy="75644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419721" cy="7564501"/>
            </a:xfrm>
            <a:custGeom>
              <a:avLst/>
              <a:gdLst/>
              <a:ahLst/>
              <a:cxnLst/>
              <a:rect r="r" b="b" t="t" l="l"/>
              <a:pathLst>
                <a:path h="7564501" w="7419721">
                  <a:moveTo>
                    <a:pt x="0" y="0"/>
                  </a:moveTo>
                  <a:lnTo>
                    <a:pt x="7419721" y="0"/>
                  </a:lnTo>
                  <a:lnTo>
                    <a:pt x="7419721" y="7564501"/>
                  </a:lnTo>
                  <a:lnTo>
                    <a:pt x="0" y="756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" r="0" b="-5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95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743761" y="2784099"/>
            <a:ext cx="4949069" cy="3081867"/>
          </a:xfrm>
          <a:custGeom>
            <a:avLst/>
            <a:gdLst/>
            <a:ahLst/>
            <a:cxnLst/>
            <a:rect r="r" b="b" t="t" l="l"/>
            <a:pathLst>
              <a:path h="3081867" w="4949069">
                <a:moveTo>
                  <a:pt x="0" y="0"/>
                </a:moveTo>
                <a:lnTo>
                  <a:pt x="4949070" y="0"/>
                </a:lnTo>
                <a:lnTo>
                  <a:pt x="4949070" y="3081867"/>
                </a:lnTo>
                <a:lnTo>
                  <a:pt x="0" y="3081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61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91399" y="3813732"/>
            <a:ext cx="5536024" cy="3858441"/>
          </a:xfrm>
          <a:custGeom>
            <a:avLst/>
            <a:gdLst/>
            <a:ahLst/>
            <a:cxnLst/>
            <a:rect r="r" b="b" t="t" l="l"/>
            <a:pathLst>
              <a:path h="3858441" w="5536024">
                <a:moveTo>
                  <a:pt x="0" y="0"/>
                </a:moveTo>
                <a:lnTo>
                  <a:pt x="5536024" y="0"/>
                </a:lnTo>
                <a:lnTo>
                  <a:pt x="5536024" y="3858441"/>
                </a:lnTo>
                <a:lnTo>
                  <a:pt x="0" y="3858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00911" y="6075235"/>
            <a:ext cx="4949069" cy="3193876"/>
          </a:xfrm>
          <a:custGeom>
            <a:avLst/>
            <a:gdLst/>
            <a:ahLst/>
            <a:cxnLst/>
            <a:rect r="r" b="b" t="t" l="l"/>
            <a:pathLst>
              <a:path h="3193876" w="4949069">
                <a:moveTo>
                  <a:pt x="0" y="0"/>
                </a:moveTo>
                <a:lnTo>
                  <a:pt x="4949070" y="0"/>
                </a:lnTo>
                <a:lnTo>
                  <a:pt x="4949070" y="3193876"/>
                </a:lnTo>
                <a:lnTo>
                  <a:pt x="0" y="319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00936" y="5290848"/>
            <a:ext cx="2023028" cy="848304"/>
            <a:chOff x="0" y="0"/>
            <a:chExt cx="812800" cy="3408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40827"/>
            </a:xfrm>
            <a:custGeom>
              <a:avLst/>
              <a:gdLst/>
              <a:ahLst/>
              <a:cxnLst/>
              <a:rect r="r" b="b" t="t" l="l"/>
              <a:pathLst>
                <a:path h="34082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0413"/>
                  </a:lnTo>
                  <a:lnTo>
                    <a:pt x="609600" y="340827"/>
                  </a:lnTo>
                  <a:lnTo>
                    <a:pt x="0" y="340827"/>
                  </a:lnTo>
                  <a:lnTo>
                    <a:pt x="203200" y="170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95250"/>
              <a:ext cx="558800" cy="436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30325" y="703212"/>
            <a:ext cx="10033163" cy="83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87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Solution(cont.)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8061" y="1648632"/>
            <a:ext cx="15061239" cy="92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</a:pPr>
            <a:r>
              <a:rPr lang="en-US" sz="23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Large Fov (broad context, less detail) + Small Fov (sharp precision &amp; clarity with narrower scene) </a:t>
            </a:r>
          </a:p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3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= Enhanced Image(Large Fov + Sharp detail &amp; clarity)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732246" y="1594583"/>
            <a:ext cx="8426986" cy="3307592"/>
          </a:xfrm>
          <a:custGeom>
            <a:avLst/>
            <a:gdLst/>
            <a:ahLst/>
            <a:cxnLst/>
            <a:rect r="r" b="b" t="t" l="l"/>
            <a:pathLst>
              <a:path h="3307592" w="8426986">
                <a:moveTo>
                  <a:pt x="0" y="0"/>
                </a:moveTo>
                <a:lnTo>
                  <a:pt x="8426986" y="0"/>
                </a:lnTo>
                <a:lnTo>
                  <a:pt x="8426986" y="3307592"/>
                </a:lnTo>
                <a:lnTo>
                  <a:pt x="0" y="3307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95909" y="5522750"/>
            <a:ext cx="5057041" cy="3365231"/>
          </a:xfrm>
          <a:custGeom>
            <a:avLst/>
            <a:gdLst/>
            <a:ahLst/>
            <a:cxnLst/>
            <a:rect r="r" b="b" t="t" l="l"/>
            <a:pathLst>
              <a:path h="3365231" w="5057041">
                <a:moveTo>
                  <a:pt x="0" y="0"/>
                </a:moveTo>
                <a:lnTo>
                  <a:pt x="5057040" y="0"/>
                </a:lnTo>
                <a:lnTo>
                  <a:pt x="5057040" y="3365230"/>
                </a:lnTo>
                <a:lnTo>
                  <a:pt x="0" y="3365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0325" y="703212"/>
            <a:ext cx="10033163" cy="83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87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Building on ZeDuSR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325" y="1998761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Base Paper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ZeDuSR (</a:t>
            </a:r>
            <a:r>
              <a:rPr lang="en-US" sz="2062" u="sng">
                <a:solidFill>
                  <a:srgbClr val="5E98F1"/>
                </a:solidFill>
                <a:latin typeface="Inter"/>
                <a:ea typeface="Inter"/>
                <a:cs typeface="Inter"/>
                <a:sym typeface="Inter"/>
                <a:hlinkClick r:id="rId6" tooltip="https://github.com/XrKang/ZeDuSR"/>
              </a:rPr>
              <a:t>Zero-shot Dual-lens Super Resolution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0325" y="2516981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Current Limitations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325" y="3241179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          - Zero-shot approach with high inference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325" y="3965376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          - Not suitable for real-time applications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325" y="4689574"/>
            <a:ext cx="16427351" cy="52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          - Dependency on MATLAB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325" y="5413772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          - Used synthetic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0325" y="6137970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My Enhancements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325" y="6862167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            - Remove MATLAB Dependency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Pure PyTorch implementation for better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325" y="7586365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            - Real-Time Optimization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Enhanced processing speed for live image capture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325" y="8310562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            - Improved Efficiency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Optimized models for faster inference without quality loss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0325" y="9034760"/>
            <a:ext cx="1642735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         - </a:t>
            </a:r>
            <a:r>
              <a:rPr lang="en-US" sz="2062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Real data only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62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62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Ignored synthetic data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978275"/>
            <a:ext cx="10437762" cy="73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5"/>
              </a:lnSpc>
            </a:pPr>
            <a:r>
              <a:rPr lang="en-US" sz="46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Zero-Shot Learning Advantage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009454"/>
            <a:ext cx="9445526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Unsupervised Learning Power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Zero-shot learning eliminates the need for labeled training data, making it more practical for real-world applications.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469458"/>
            <a:ext cx="9445526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No Training Data Dependency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Traditional supervised learning requires massive datasets with ground truth labels, which are expensive and time-consuming to create.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929461"/>
            <a:ext cx="9445526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Generalization Capability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Zero-shot models can work on new, unseen data without retraining, unlike supervised models that are limited to their training distribution.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7389465"/>
            <a:ext cx="9445526" cy="8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Cost-Effective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Removes the burden of data collection, annotation, and model retraining for different scenarios.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8395841"/>
            <a:ext cx="9445526" cy="8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Adaptability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Can handle diverse imaging conditions and camera setups without requiring specific training for each configuration.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35311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7" y="3180457"/>
            <a:ext cx="4208711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Dual-Lens Input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7" y="3948261"/>
            <a:ext cx="4873378" cy="8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Ultra-wide and telephoto images captured simultaneously.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7519541" y="4245471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000" t="0" r="-1000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22237" y="3401914"/>
            <a:ext cx="5182103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Intelligent 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2237" y="3948261"/>
            <a:ext cx="4873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Deep learning models align and merge image data intelligently.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0344001" y="4245471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22237" y="646762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Enhanced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2237" y="7013972"/>
            <a:ext cx="4873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Single photo with broad context and sharp detail in perfect harmony.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0344001" y="7069931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4444" r="0" b="-1444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2237" y="6155829"/>
            <a:ext cx="354404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Storytelling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7" y="6702178"/>
            <a:ext cx="4873378" cy="8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Ordinary cameras become capable of capturing reality as we perceive it.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290816" y="2997845"/>
            <a:ext cx="5706219" cy="5706219"/>
            <a:chOff x="0" y="0"/>
            <a:chExt cx="7608292" cy="760829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7519541" y="7069931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100" y="95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2168426"/>
            <a:ext cx="10211239" cy="87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Technical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77264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Technologies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432399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Language: 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4985147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Framework: PyTorch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5537895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Models: Lightweight deep learning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6544270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Dataset: CameraFusion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28401" y="377264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Development 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401" y="4432399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Image Processing: OpenCV, NumPy, Pillow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8401" y="5438775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Visualization: Matplotlib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401" y="5991522"/>
            <a:ext cx="437688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Environment: Jupyter Notebook/VS Code, GPU server(if possible)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8401" y="7451526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Version Control: GitHub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83147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Advantages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545681"/>
            <a:ext cx="8048030" cy="2201615"/>
            <a:chOff x="0" y="0"/>
            <a:chExt cx="10730707" cy="29354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54138" y="3564731"/>
            <a:ext cx="152400" cy="2163515"/>
            <a:chOff x="0" y="0"/>
            <a:chExt cx="203200" cy="288468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5" y="386729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Natural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5" y="4413646"/>
            <a:ext cx="72523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Seamless fusion creates photos that look authentic, not artificially processed.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5" y="3545681"/>
            <a:ext cx="8048179" cy="2201615"/>
            <a:chOff x="0" y="0"/>
            <a:chExt cx="10730905" cy="2935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9247584" y="3564731"/>
            <a:ext cx="152400" cy="2163515"/>
            <a:chOff x="0" y="0"/>
            <a:chExt cx="203200" cy="288468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2" y="3867299"/>
            <a:ext cx="4807796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Real-Time 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2" y="4413646"/>
            <a:ext cx="725254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Lightweight models enable fast computation on standard hardware.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5992714"/>
            <a:ext cx="8048030" cy="2201615"/>
            <a:chOff x="0" y="0"/>
            <a:chExt cx="10730707" cy="29354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54138" y="6011764"/>
            <a:ext cx="152400" cy="2163515"/>
            <a:chOff x="0" y="0"/>
            <a:chExt cx="203200" cy="2884687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5" y="6314331"/>
            <a:ext cx="467715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Universal Application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5" y="6860679"/>
            <a:ext cx="72523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Works with any dual-lens camera system across industries and use cases.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5" y="5992714"/>
            <a:ext cx="8048179" cy="2201615"/>
            <a:chOff x="0" y="0"/>
            <a:chExt cx="10730905" cy="29354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F8ECD3"/>
            </a:solid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247584" y="6011764"/>
            <a:ext cx="152400" cy="2163515"/>
            <a:chOff x="0" y="0"/>
            <a:chExt cx="203200" cy="2884687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2" y="631433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 Trade-Offs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2" y="6860679"/>
            <a:ext cx="725254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Eliminates the choice between breadth and detail delivers both simultaneously.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95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721150"/>
            <a:chOff x="0" y="0"/>
            <a:chExt cx="24384000" cy="4961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4961509"/>
            </a:xfrm>
            <a:custGeom>
              <a:avLst/>
              <a:gdLst/>
              <a:ahLst/>
              <a:cxnLst/>
              <a:rect r="r" b="b" t="t" l="l"/>
              <a:pathLst>
                <a:path h="49615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61509"/>
                  </a:lnTo>
                  <a:lnTo>
                    <a:pt x="0" y="496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718" r="0" b="-11371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7" y="5164634"/>
            <a:ext cx="12921918" cy="87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 &amp; Future Potential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7" y="6418660"/>
            <a:ext cx="16303526" cy="130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This project transforms how we capture and perceive visual information. By removing the fundamental limitation of single-lens photography, it opens new possibilities for consumer devices, professional imaging, autonomous systems, and surveillance technology.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8098483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C2926"/>
                </a:solidFill>
                <a:latin typeface="Inter Bold"/>
                <a:ea typeface="Inter Bold"/>
                <a:cs typeface="Inter Bold"/>
                <a:sym typeface="Inter Bold"/>
              </a:rPr>
              <a:t>Contact:</a:t>
            </a:r>
            <a:r>
              <a:rPr lang="en-US" sz="2187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Mahir Faisal | 01951351427 | Institute of Information Technology, University of Dhaka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08286" y="3740276"/>
            <a:ext cx="9445526" cy="174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 b="true">
                <a:solidFill>
                  <a:srgbClr val="2C292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C2926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DAG3wKe3lB8</dc:identifier>
  <dcterms:modified xsi:type="dcterms:W3CDTF">2011-08-01T06:04:30Z</dcterms:modified>
  <cp:revision>1</cp:revision>
  <dc:title>Real-Time-Dual-Lens-Photo-Enhancer.pptx</dc:title>
</cp:coreProperties>
</file>